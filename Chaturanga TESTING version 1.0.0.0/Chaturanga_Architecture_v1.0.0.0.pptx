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solidFill>
            <a:srgbClr val="1A150F"/>
          </a:solidFill>
          <a:ln w="25400">
            <a:solidFill>
              <a:srgbClr val="C896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1A150F"/>
          </a:solidFill>
          <a:ln w="12700">
            <a:solidFill>
              <a:srgbClr val="3A32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╔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7572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╗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╚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75720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चतुरंग · Chaturanga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4114800" y="3200400"/>
            <a:ext cx="3962095" cy="0"/>
          </a:xfrm>
          <a:prstGeom prst="line">
            <a:avLst/>
          </a:prstGeom>
          <a:noFill/>
          <a:ln w="25400">
            <a:solidFill>
              <a:srgbClr val="C896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56616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Architecture &amp; Specifications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6DF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Version 1.0.0.0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9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Web Server &amp; Socket.IO Gameplay • MongoDB CRUD REST API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solidFill>
            <a:srgbClr val="1A150F"/>
          </a:solidFill>
          <a:ln w="19050">
            <a:solidFill>
              <a:srgbClr val="3A32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1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41480" y="91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4148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Core Technology Stack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19050">
            <a:solidFill>
              <a:srgbClr val="3A32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चतुरंग · Chaturanga Architecture v1.0.0.0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3383280" cy="4389120"/>
          </a:xfrm>
          <a:prstGeom prst="rect">
            <a:avLst/>
          </a:prstGeom>
          <a:solidFill>
            <a:srgbClr val="262017"/>
          </a:solidFill>
          <a:ln w="19050">
            <a:solidFill>
              <a:srgbClr val="3A32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463040"/>
            <a:ext cx="3200400" cy="548640"/>
          </a:xfrm>
          <a:prstGeom prst="rect">
            <a:avLst/>
          </a:prstGeom>
          <a:solidFill>
            <a:srgbClr val="1A150F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481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Client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171907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69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UI &amp; Rendering Engine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21031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Structure: Semantic HTML5 pages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Styling: Vanilla CSS (Custom dark theme, keyframe board animations)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Game Board: Interactive Canvas API rendering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Communication: Socket.io-client for real-time play; Fetch API for REST endpoints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Assets: Embedded SVGs for achivement folios, utilizing Cormorant Garamond typography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 Worker: Offline support (PWA)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0" y="1371600"/>
            <a:ext cx="3383280" cy="4389120"/>
          </a:xfrm>
          <a:prstGeom prst="rect">
            <a:avLst/>
          </a:prstGeom>
          <a:solidFill>
            <a:srgbClr val="262017"/>
          </a:solidFill>
          <a:ln w="19050">
            <a:solidFill>
              <a:srgbClr val="3A32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1463040"/>
            <a:ext cx="3200400" cy="548640"/>
          </a:xfrm>
          <a:prstGeom prst="rect">
            <a:avLst/>
          </a:prstGeom>
          <a:solidFill>
            <a:srgbClr val="1A150F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481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WebSocket Game Server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171907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69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 &amp; Matchmaking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0" y="21031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Runtime: Node.js HTTP web server (Port 8765)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Communications: Socket.IO Server for live play (sync board, turn notifications)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Game Loop Engine: dharma-engine.js (validates movements, checks vyuha formations)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Matchmaking: Custom queue arrays for 2P and 4P modes (eliminates match stalls)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Engine: tieredBots.js integration supporting AI play (ELO 100-1000)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0" y="1371600"/>
            <a:ext cx="3383280" cy="4389120"/>
          </a:xfrm>
          <a:prstGeom prst="rect">
            <a:avLst/>
          </a:prstGeom>
          <a:solidFill>
            <a:srgbClr val="262017"/>
          </a:solidFill>
          <a:ln w="19050">
            <a:solidFill>
              <a:srgbClr val="3A32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1463040"/>
            <a:ext cx="3200400" cy="548640"/>
          </a:xfrm>
          <a:prstGeom prst="rect">
            <a:avLst/>
          </a:prstGeom>
          <a:solidFill>
            <a:srgbClr val="1A150F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1481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&amp; REST API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66760" y="1719072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69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Persistence &amp; User Auth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66760" y="210312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Web Framework: Express (Port 5000) inside login_api.js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Database ODM: Mongoose (MongoDB connection)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Cryptography: Bcrypt for secure user password hashing (10 salt rounds)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Mail Delivery: Nodemailer transporter for email OTP verification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Authoritative Sync: Server-to-server POST endpoints for secure ELO updating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solidFill>
            <a:srgbClr val="1A150F"/>
          </a:solidFill>
          <a:ln w="19050">
            <a:solidFill>
              <a:srgbClr val="3A32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1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41480" y="91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4148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Architectural Workflow Diagram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19050">
            <a:solidFill>
              <a:srgbClr val="3A32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चतुरंग · Chaturanga Architecture v1.0.0.0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2011680" cy="2194560"/>
          </a:xfrm>
          <a:prstGeom prst="rect">
            <a:avLst/>
          </a:prstGeom>
          <a:solidFill>
            <a:srgbClr val="262017"/>
          </a:solidFill>
          <a:ln w="19050">
            <a:solidFill>
              <a:srgbClr val="C896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Browser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(Game UI / Canvas)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HTML/CSS Board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Socket.IO Client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LocalStorage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 Tokens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0" y="3200400"/>
            <a:ext cx="1097280" cy="-914400"/>
          </a:xfrm>
          <a:prstGeom prst="line">
            <a:avLst/>
          </a:prstGeom>
          <a:noFill/>
          <a:ln w="25400">
            <a:solidFill>
              <a:srgbClr val="8A6E2F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46888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69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(Port 8765)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0" y="4114800"/>
            <a:ext cx="1097280" cy="914400"/>
          </a:xfrm>
          <a:prstGeom prst="line">
            <a:avLst/>
          </a:prstGeom>
          <a:noFill/>
          <a:ln w="25400">
            <a:solidFill>
              <a:srgbClr val="8A6E2F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46888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69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HTTP (Port 5000)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0" y="1371600"/>
            <a:ext cx="2560320" cy="1645920"/>
          </a:xfrm>
          <a:prstGeom prst="rect">
            <a:avLst/>
          </a:prstGeom>
          <a:solidFill>
            <a:srgbClr val="262017"/>
          </a:solidFill>
          <a:ln w="19050">
            <a:solidFill>
              <a:srgbClr val="C896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463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WebSocket Game Server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18288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Socket.IO Real-time Loop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In-Memory Matchmaking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 Flat-file JSON Ledger (Guests)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dharma-engine.js Validation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0" y="4297680"/>
            <a:ext cx="2560320" cy="1645920"/>
          </a:xfrm>
          <a:prstGeom prst="rect">
            <a:avLst/>
          </a:prstGeom>
          <a:solidFill>
            <a:srgbClr val="262017"/>
          </a:solidFill>
          <a:ln w="19050">
            <a:solidFill>
              <a:srgbClr val="C896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4389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 REST API Server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49040" y="47548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Node/Express (login_api.js)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Profile CRUD &amp; Auth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Friends &amp; Invite System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OTP &amp; Password Recovery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37760" y="3017520"/>
            <a:ext cx="0" cy="1280160"/>
          </a:xfrm>
          <a:prstGeom prst="line">
            <a:avLst/>
          </a:prstGeom>
          <a:noFill/>
          <a:ln w="25400">
            <a:solidFill>
              <a:srgbClr val="C28B2B"/>
            </a:solidFill>
            <a:prstDash val="solid"/>
            <a:headEnd type="triangl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029200" y="3383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28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ELO Sync &amp; Win Persistence</a:t>
            </a:r>
            <a:endParaRPr lang="en-US" sz="85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C28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(Server-to-Server POST)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5120640"/>
            <a:ext cx="1554480" cy="0"/>
          </a:xfrm>
          <a:prstGeom prst="line">
            <a:avLst/>
          </a:prstGeom>
          <a:noFill/>
          <a:ln w="25400">
            <a:solidFill>
              <a:srgbClr val="8A6E2F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400800" y="4846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69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Mongoose / TLS Connection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772400" y="4297680"/>
            <a:ext cx="2286000" cy="1645920"/>
          </a:xfrm>
          <a:prstGeom prst="rect">
            <a:avLst/>
          </a:prstGeom>
          <a:solidFill>
            <a:srgbClr val="262017"/>
          </a:solidFill>
          <a:ln w="19050">
            <a:solidFill>
              <a:srgbClr val="C896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4389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 Atlas (Cloud)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63840" y="4754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Registered User Profiles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Password Hashes (Bcrypt)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Game History Log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Friendship Lists &amp; Requests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2194560"/>
            <a:ext cx="1554480" cy="0"/>
          </a:xfrm>
          <a:prstGeom prst="line">
            <a:avLst/>
          </a:prstGeom>
          <a:noFill/>
          <a:ln w="25400">
            <a:solidFill>
              <a:srgbClr val="8A6E2F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6400800" y="1920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69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Local FS Write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72400" y="1371600"/>
            <a:ext cx="2286000" cy="1645920"/>
          </a:xfrm>
          <a:prstGeom prst="rect">
            <a:avLst/>
          </a:prstGeom>
          <a:solidFill>
            <a:srgbClr val="262017"/>
          </a:solidFill>
          <a:ln w="19050">
            <a:solidFill>
              <a:srgbClr val="C896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File Ledger (data/)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863840" y="18288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elo-ledger.json (Guest ELOs)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game-history.json (Guest game logs)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Self-healing, error-resilient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restart node-watch paths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5852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69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Legend:  ── Gold/Bronze: Network Flows   ── Amber: Server-to-Server Sync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solidFill>
            <a:srgbClr val="1A150F"/>
          </a:solidFill>
          <a:ln w="19050">
            <a:solidFill>
              <a:srgbClr val="3A32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1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41480" y="91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4148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MongoDB Schema Definitions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19050">
            <a:solidFill>
              <a:srgbClr val="3A32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चतुरंग · Chaturanga Architecture v1.0.0.0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280160"/>
            <a:ext cx="5120640" cy="4663440"/>
          </a:xfrm>
          <a:prstGeom prst="rect">
            <a:avLst/>
          </a:prstGeom>
          <a:solidFill>
            <a:srgbClr val="262017"/>
          </a:solidFill>
          <a:ln w="19050">
            <a:solidFill>
              <a:srgbClr val="3A32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Model Schema (User)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182880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name: String (required, trimmed)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email: String (required, unique, lowercased, index)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password: String (required, hashed via bcrypt)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elo: Number (authoritative rank, starts at 200)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friends: Array of ObjectIds (references User model)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friendRequests: Array of nested objects: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fromUserId (ObjectId), fromName, fromEmail, createdAt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last50games: Array of nested objects (capped history):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startedAt, endedAt, type (1bot, 2bot, 3bot, pvp), result (win/defeat/quitted)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puzzleProgress: Nested progress tracking object: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elo (puzzles rating), streak (daily count), lastSolvedDate, solved (Array of string puzzleIds)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Timestamps: Automatically adds createdAt &amp; updatedAt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1280160"/>
            <a:ext cx="5669280" cy="2194560"/>
          </a:xfrm>
          <a:prstGeom prst="rect">
            <a:avLst/>
          </a:prstGeom>
          <a:solidFill>
            <a:srgbClr val="262017"/>
          </a:solidFill>
          <a:ln w="19050">
            <a:solidFill>
              <a:srgbClr val="3A32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Pending Registration Schema (PendingRegistration)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73736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name &amp; email: String (registration candidate keys)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otp: String (random 6-digit numeric verification code)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otpExpires: Date (expiring window - exactly 10 minutes)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verified: Boolean (email validated status flag, defaults to false)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TTL Auto-Expiry Index: createdAt field expires in 3600s (1hr)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3657600"/>
            <a:ext cx="5669280" cy="2286000"/>
          </a:xfrm>
          <a:prstGeom prst="rect">
            <a:avLst/>
          </a:prstGeom>
          <a:solidFill>
            <a:srgbClr val="262017"/>
          </a:solidFill>
          <a:ln w="19050">
            <a:solidFill>
              <a:srgbClr val="3A32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3749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Resilient JSON Guest Persistence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411480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Dual-Path Ledger: Guests bypass MongoDB. Recorded directly to local file server (elo-ledger.json &amp; game-history.json).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Atomic Write Assurance: Writes data to a temporary file (.tmp-[pid]-[timestamp]) and uses fs.renameSync to execute an atomic write. Guarantees no partial-write corruptions.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Self-Healing Parser: On reading, if JSON is empty or corrupted, it triggers a console warning, creates a backup copy, and resets with a safe fallback ledger.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solidFill>
            <a:srgbClr val="1A150F"/>
          </a:solidFill>
          <a:ln w="19050">
            <a:solidFill>
              <a:srgbClr val="3A32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1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41480" y="91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4148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REST API CRUD Operations: Auth &amp; Profiles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19050">
            <a:solidFill>
              <a:srgbClr val="3A32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चतुरंग · Chaturanga Architecture v1.0.0.0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438912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8778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960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CRUD Phase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960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HTTP API Endpoint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960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Payload / Request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960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Server Operations / MongoDB Query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50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7C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DFD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/api/auth/register/send-otp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DFD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/api/auth/register/set-password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DF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{ name, email }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DF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{ email, password }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DF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Verifies uniqueness of email in User.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DF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Saves temporary code in PendingRegistration.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DF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Generates User.create() with hashed bcrypt password.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17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28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DFD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/api/user/:id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DFD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/api/users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DFD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/api/leaderboard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DF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URL Params (userId)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DF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Query (page, limit)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DF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User.findById(id).select("-password") retrieves single profile.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DF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User.find().sort({ elo: -1 }).limit(100) retrieves leaderboard.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DF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User.find().skip().limit() paginates user directory.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17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9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DFD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 /api/user/:id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DFD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/api/puzzles/progress/:userId/solve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DF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{ name, email, password }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DF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{ puzzleId, eloDelta }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DF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Finds User, modifies properties, calls user.save() which hashes password via pre-save hook.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DF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Solves puzzle, increases streak daily, updates ELO delta.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17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53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DFD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 /api/user/:id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DF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URL Params (userId)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DF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Executes User.findByIdAndDelete(id).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6DF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Deletes user profile document from the database.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2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solidFill>
            <a:srgbClr val="1A150F"/>
          </a:solidFill>
          <a:ln w="19050">
            <a:solidFill>
              <a:srgbClr val="3A32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1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41480" y="91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4148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Game Results Persistence (Authoritative CRUD Flow)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19050">
            <a:solidFill>
              <a:srgbClr val="3A32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चतुरंग · Chaturanga Architecture v1.0.0.0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2011680" cy="3657600"/>
          </a:xfrm>
          <a:prstGeom prst="rect">
            <a:avLst/>
          </a:prstGeom>
          <a:solidFill>
            <a:srgbClr val="262017"/>
          </a:solidFill>
          <a:ln w="19050">
            <a:solidFill>
              <a:srgbClr val="3A32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1508760"/>
            <a:ext cx="640080" cy="640080"/>
          </a:xfrm>
          <a:prstGeom prst="ellipse">
            <a:avLst/>
          </a:prstGeom>
          <a:solidFill>
            <a:srgbClr val="1A150F"/>
          </a:solidFill>
          <a:ln w="25400">
            <a:solidFill>
              <a:srgbClr val="C896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1554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WebSocket Connection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connects to WS server on port 8765 with a userId (registered) or guest token. WS requests authoritative ELO from DB API Server (fetchServerElo).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06040" y="3657600"/>
            <a:ext cx="164592" cy="0"/>
          </a:xfrm>
          <a:prstGeom prst="line">
            <a:avLst/>
          </a:prstGeom>
          <a:noFill/>
          <a:ln w="25400">
            <a:solidFill>
              <a:srgbClr val="C8960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816352" y="1828800"/>
            <a:ext cx="2011680" cy="3657600"/>
          </a:xfrm>
          <a:prstGeom prst="rect">
            <a:avLst/>
          </a:prstGeom>
          <a:solidFill>
            <a:srgbClr val="262017"/>
          </a:solidFill>
          <a:ln w="19050">
            <a:solidFill>
              <a:srgbClr val="3A32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02152" y="1508760"/>
            <a:ext cx="640080" cy="640080"/>
          </a:xfrm>
          <a:prstGeom prst="ellipse">
            <a:avLst/>
          </a:prstGeom>
          <a:solidFill>
            <a:srgbClr val="1A150F"/>
          </a:solidFill>
          <a:ln w="25400">
            <a:solidFill>
              <a:srgbClr val="C896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1554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07792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In-Memory Session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07792" y="292608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executes in-memory. WS handles live board state updates, dice rolls, turns, chat messages, and player disconnect reconnect timeouts.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73752" y="3657600"/>
            <a:ext cx="164592" cy="0"/>
          </a:xfrm>
          <a:prstGeom prst="line">
            <a:avLst/>
          </a:prstGeom>
          <a:noFill/>
          <a:ln w="25400">
            <a:solidFill>
              <a:srgbClr val="C8960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84064" y="1828800"/>
            <a:ext cx="2011680" cy="3657600"/>
          </a:xfrm>
          <a:prstGeom prst="rect">
            <a:avLst/>
          </a:prstGeom>
          <a:solidFill>
            <a:srgbClr val="262017"/>
          </a:solidFill>
          <a:ln w="19050">
            <a:solidFill>
              <a:srgbClr val="3A32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9864" y="1508760"/>
            <a:ext cx="640080" cy="640080"/>
          </a:xfrm>
          <a:prstGeom prst="ellipse">
            <a:avLst/>
          </a:prstGeom>
          <a:solidFill>
            <a:srgbClr val="1A150F"/>
          </a:solidFill>
          <a:ln w="25400">
            <a:solidFill>
              <a:srgbClr val="C896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9864" y="1554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75504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Calculated ELO Delta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75504" y="292608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Upon game completion (win, draw, forfeit), ELO variations are computed server-side using a multi-player FFA formula: delta = Math.round(K * (actual - expected)).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41464" y="3657600"/>
            <a:ext cx="164592" cy="0"/>
          </a:xfrm>
          <a:prstGeom prst="line">
            <a:avLst/>
          </a:prstGeom>
          <a:noFill/>
          <a:ln w="25400">
            <a:solidFill>
              <a:srgbClr val="C8960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51776" y="1828800"/>
            <a:ext cx="2011680" cy="3657600"/>
          </a:xfrm>
          <a:prstGeom prst="rect">
            <a:avLst/>
          </a:prstGeom>
          <a:solidFill>
            <a:srgbClr val="262017"/>
          </a:solidFill>
          <a:ln w="19050">
            <a:solidFill>
              <a:srgbClr val="3A32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37576" y="1508760"/>
            <a:ext cx="640080" cy="640080"/>
          </a:xfrm>
          <a:prstGeom prst="ellipse">
            <a:avLst/>
          </a:prstGeom>
          <a:solidFill>
            <a:srgbClr val="1A150F"/>
          </a:solidFill>
          <a:ln w="25400">
            <a:solidFill>
              <a:srgbClr val="C896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37576" y="1554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43216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Persistence Sync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43216" y="292608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Registered Users: WS server executes fetch(DB_API_URL/api/user/game-history, { POST })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Guests: WS server executes atomic local JSON write (saveLedger).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409176" y="3657600"/>
            <a:ext cx="164592" cy="0"/>
          </a:xfrm>
          <a:prstGeom prst="line">
            <a:avLst/>
          </a:prstGeom>
          <a:noFill/>
          <a:ln w="25400">
            <a:solidFill>
              <a:srgbClr val="C8960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619488" y="1828800"/>
            <a:ext cx="2011680" cy="3657600"/>
          </a:xfrm>
          <a:prstGeom prst="rect">
            <a:avLst/>
          </a:prstGeom>
          <a:solidFill>
            <a:srgbClr val="262017"/>
          </a:solidFill>
          <a:ln w="19050">
            <a:solidFill>
              <a:srgbClr val="3A32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05288" y="1508760"/>
            <a:ext cx="640080" cy="640080"/>
          </a:xfrm>
          <a:prstGeom prst="ellipse">
            <a:avLst/>
          </a:prstGeom>
          <a:solidFill>
            <a:srgbClr val="1A150F"/>
          </a:solidFill>
          <a:ln w="25400">
            <a:solidFill>
              <a:srgbClr val="C896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05288" y="1554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710928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 Atomic Updates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710928" y="292608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API processes the POST, updating MongoDB via User.findByIdAndUpdate(userId, { $set: { elo: newElo }, $push: { last50games: { $slice: 50 } } }).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solidFill>
            <a:srgbClr val="1A150F"/>
          </a:solidFill>
          <a:ln w="19050">
            <a:solidFill>
              <a:srgbClr val="3A32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1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41480" y="91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4148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Real-Time WebSocket Architecture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19050">
            <a:solidFill>
              <a:srgbClr val="3A32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चतुरंग · Chaturanga Architecture v1.0.0.0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solidFill>
            <a:srgbClr val="262017"/>
          </a:solidFill>
          <a:ln w="19050">
            <a:solidFill>
              <a:srgbClr val="3A32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Handling &amp; State Synchronization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192024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Client/Server Sync: WebSocket rooms maintain game states. Engine board representations are mapped to lightweight wire formats: board square coordinate -&gt; piece owner &amp; type string (e.g. "0:rook").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Connection Map: WS server maintains active connections inside onlineUsers Map (userId -&gt; { sockets: Set, name, elo }) to enable multiple active tabs under a single ID.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In-game Invites: pendingInvites Map monitors peer invites, automatically disposing of invitation codes and rooms upon decline, timeout (30 seconds), or disconnection.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Reconnection Grace Period: Active games survive brief network drops. If a user disconnects, player.connected is set to false and the room is notified. A 120-second countdown runs; if it expires, the game is forfeited and ELO is updated.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5394960" cy="4389120"/>
          </a:xfrm>
          <a:prstGeom prst="rect">
            <a:avLst/>
          </a:prstGeom>
          <a:solidFill>
            <a:srgbClr val="262017"/>
          </a:solidFill>
          <a:ln w="19050">
            <a:solidFill>
              <a:srgbClr val="3A32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Multiplayer Matchmaking &amp; Queueing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Matchmaking Queue: Separated queues for 2P and 4P configurations (matchmakingQueue['2p'] / matchmakingQueue['4p']) stored inside server memory.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Match Formation: When a queue contains enough human players (2 players for 2P mode, 4 players for 4P mode), the game room is immediately initialized.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Seat Auto-Fill: To avoid long wait times, rooms feature a 10-second bot fallback timer (ROOM_BOT_FALLBACK_MS). If a human seat remains vacant in the lobby after 10s, it is automatically filled by a tiered AI bot.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Unified Board Design: Both 2P and 4P matches execute on the same 4-seat board. In 2P mode, seats 2 and 3 are filled by bots, maintaining the authentic Chaturanga FFA ruleset.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Rematch System: Rematches require majority voting with a 30-second decision timeout, ensuring inactive players do not stall the game loop.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solidFill>
            <a:srgbClr val="1A150F"/>
          </a:solidFill>
          <a:ln w="19050">
            <a:solidFill>
              <a:srgbClr val="3A32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1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41480" y="91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41480" y="6537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Security, Hashing, &amp; Operational Safety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914400"/>
            <a:ext cx="11094415" cy="0"/>
          </a:xfrm>
          <a:prstGeom prst="line">
            <a:avLst/>
          </a:prstGeom>
          <a:noFill/>
          <a:ln w="19050">
            <a:solidFill>
              <a:srgbClr val="3A32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चतुरंग · Chaturanga Architecture v1.0.0.0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solidFill>
            <a:srgbClr val="262017"/>
          </a:solidFill>
          <a:ln w="19050">
            <a:solidFill>
              <a:srgbClr val="3A32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5448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Bcrypt Password Cryptography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182880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Pre-Save Hook Hashing: User passwords are automatically hashed asynchronously using Bcrypt with a work factor of 10 salt rounds prior to being saved in the database.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Filters: To prevent developer accidents, MongoDB models use custom schema JSON transformation options (transform: (_doc, ret) =&gt; { delete ret.password; return ret }) to strip passwords from all API payloads.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11094415" cy="1188720"/>
          </a:xfrm>
          <a:prstGeom prst="rect">
            <a:avLst/>
          </a:prstGeom>
          <a:solidFill>
            <a:srgbClr val="262017"/>
          </a:solidFill>
          <a:ln w="19050">
            <a:solidFill>
              <a:srgbClr val="3A32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6324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Security &amp; Nodemailer Transporter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33756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Verification Flow: Registrations remain locked in a PendingRegistration state until a 6-digit OTP matches. OTPs are protected by short-lived expirations (10 minutes).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Secure Transporter: Supports both SMTP host configurations (port 587/465, secure flag verification) and dedicated Gmail App Password integrations.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94415" cy="1188720"/>
          </a:xfrm>
          <a:prstGeom prst="rect">
            <a:avLst/>
          </a:prstGeom>
          <a:solidFill>
            <a:srgbClr val="262017"/>
          </a:solidFill>
          <a:ln w="19050">
            <a:solidFill>
              <a:srgbClr val="3A32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57200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Self-Healing System Architecture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8463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File Error-Handling: Reading the guest ledger uses loadJSONSelfHealing, backing up corrupt JSON and resetting securely to prevent backend system crashes.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DF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Nodemon Ignore Rules: Critical database write paths (data/, game/data/) are excluded from nodemon watches. Local writes to JSON files never trigger server restarts mid-match.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2026-08-19T01:23:52Z</dcterms:created>
  <dcterms:modified xsi:type="dcterms:W3CDTF">2026-08-19T01:23:52Z</dcterms:modified>
</cp:coreProperties>
</file>